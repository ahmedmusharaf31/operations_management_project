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937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1F2937"/>
                </a:solidFill>
                <a:latin typeface="Georgia"/>
              </a:rPr>
              <a:t>Forecasted Units — Monday 11-May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Naan</c:v>
                </c:pt>
                <c:pt idx="1">
                  <c:v>Chai</c:v>
                </c:pt>
                <c:pt idx="2">
                  <c:v>Biryani</c:v>
                </c:pt>
                <c:pt idx="3">
                  <c:v>Daal Chawal</c:v>
                </c:pt>
                <c:pt idx="4">
                  <c:v>Min. Water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</c:v>
                </c:pt>
                <c:pt idx="1">
                  <c:v>50.7</c:v>
                </c:pt>
                <c:pt idx="2">
                  <c:v>44.3</c:v>
                </c:pt>
                <c:pt idx="3">
                  <c:v>44.3</c:v>
                </c:pt>
                <c:pt idx="4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AD-4F91-A61C-EEDD69AEE6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WMA</c:v>
                </c:pt>
              </c:strCache>
            </c:strRef>
          </c:tx>
          <c:spPr>
            <a:solidFill>
              <a:srgbClr val="2C3E5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Naan</c:v>
                </c:pt>
                <c:pt idx="1">
                  <c:v>Chai</c:v>
                </c:pt>
                <c:pt idx="2">
                  <c:v>Biryani</c:v>
                </c:pt>
                <c:pt idx="3">
                  <c:v>Daal Chawal</c:v>
                </c:pt>
                <c:pt idx="4">
                  <c:v>Min. Water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63.1</c:v>
                </c:pt>
                <c:pt idx="1">
                  <c:v>50.6</c:v>
                </c:pt>
                <c:pt idx="2">
                  <c:v>44.4</c:v>
                </c:pt>
                <c:pt idx="3">
                  <c:v>43.5</c:v>
                </c:pt>
                <c:pt idx="4">
                  <c:v>40.5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AD-4F91-A61C-EEDD69AEE6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ES (α=0.3)</c:v>
                </c:pt>
              </c:strCache>
            </c:strRef>
          </c:tx>
          <c:spPr>
            <a:solidFill>
              <a:srgbClr val="A7BEA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Naan</c:v>
                </c:pt>
                <c:pt idx="1">
                  <c:v>Chai</c:v>
                </c:pt>
                <c:pt idx="2">
                  <c:v>Biryani</c:v>
                </c:pt>
                <c:pt idx="3">
                  <c:v>Daal Chawal</c:v>
                </c:pt>
                <c:pt idx="4">
                  <c:v>Min. Water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62.2</c:v>
                </c:pt>
                <c:pt idx="1">
                  <c:v>50.6</c:v>
                </c:pt>
                <c:pt idx="2">
                  <c:v>45.2</c:v>
                </c:pt>
                <c:pt idx="3">
                  <c:v>43.6</c:v>
                </c:pt>
                <c:pt idx="4">
                  <c:v>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9AD-4F91-A61C-EEDD69AEE6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3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ABC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504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E4-4C64-9DE0-60BF36E5DD15}"/>
              </c:ext>
            </c:extLst>
          </c:dPt>
          <c:dPt>
            <c:idx val="1"/>
            <c:bubble3D val="0"/>
            <c:spPr>
              <a:solidFill>
                <a:srgbClr val="D4A57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E4-4C64-9DE0-60BF36E5DD15}"/>
              </c:ext>
            </c:extLst>
          </c:dPt>
          <c:dPt>
            <c:idx val="2"/>
            <c:bubble3D val="0"/>
            <c:spPr>
              <a:solidFill>
                <a:srgbClr val="A7BEA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E4-4C64-9DE0-60BF36E5DD1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3E4-4C64-9DE0-60BF36E5DD1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3E4-4C64-9DE0-60BF36E5DD1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K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3E4-4C64-9DE0-60BF36E5DD1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K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Class A — 7 items</c:v>
                </c:pt>
                <c:pt idx="1">
                  <c:v>Class B — 3 items</c:v>
                </c:pt>
                <c:pt idx="2">
                  <c:v>Class C — 6 items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20</c:v>
                </c:pt>
                <c:pt idx="2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3E4-4C64-9DE0-60BF36E5DD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F293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2458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548640" y="548640"/>
            <a:ext cx="822960" cy="822960"/>
          </a:xfrm>
          <a:prstGeom prst="ellipse">
            <a:avLst/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C3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4864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38912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GIKAFE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389120" y="2468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Cafeteria Operations Study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3891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· Inventory · Queueing Analysis at the Peak Lunch Hour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840480"/>
            <a:ext cx="1097280" cy="36576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4389120" y="4023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Musharaf  </a:t>
            </a: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Reg# 2022067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Umar Mushtaq Mughal  </a:t>
            </a: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Reg# 2022602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Suhaib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89120" y="5715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Heizer &amp; Render — Operations Management, 12e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6035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 Institute of Engineering Sciences &amp; Technology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GIKAFE, why now?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760720" cy="44805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91440" cy="4480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GIKAFE serves ~500 students during the 12:00–14:00 lunch window on a single main counter. Visible 6–8 person queues form at the peak, food items occasionally run short before 14:00, and there is no formal demand-forecasting or inventory policy in place.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5303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waits cut into student study/class time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 on popular items hurt service level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data-driven ordering = overstock or waste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BOUNDARY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210312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GIKAFE main counter only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12:00–14:00 (peak lunch)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menu items, 1 service line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Excluded: 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prep, breakfast, dinner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4023360"/>
            <a:ext cx="1508760" cy="210312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766560" y="4251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511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766560" y="5166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0" y="4023360"/>
            <a:ext cx="1508760" cy="210312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8412480" y="5166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4023360"/>
            <a:ext cx="1508760" cy="210312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10058400" y="42519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10058400" y="516636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OM tools, one integrated study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Heizer &amp; Render — Operations Management (12e). Tools chosen because they map directly to the three pain points we observed: demand variability, no order policy, and peak-hour congestion.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46120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 Forecasting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40690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 · WMA · Exponential Smoothing to predict daily demand for the top 5 items. Compared via MAPE to pick the best method.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548640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822960" y="5623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for Day 11 (Mon 11-May)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70832" y="228600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370832" y="2286000"/>
            <a:ext cx="3611880" cy="73152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4599432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68312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45152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45152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· EOQ · ROP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45152" y="40690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16 items by annual value, then size optimal order quantities and reorder points for Class-A high-value items.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45152" y="548640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4645152" y="5623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policy for Class-A items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93024" y="2286000"/>
            <a:ext cx="361188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8193024" y="2286000"/>
            <a:ext cx="361188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8421624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10890504" y="25603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67344" y="32004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67344" y="34747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M/M/1 Analysis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67344" y="4069080"/>
            <a:ext cx="3063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main counter as a single-server queue. Use λ, μ, ρ to diagnose stability and waiting times at the 12:00–14:00 peak.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67344" y="548640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1" name="Text 29"/>
          <p:cNvSpPr/>
          <p:nvPr/>
        </p:nvSpPr>
        <p:spPr>
          <a:xfrm>
            <a:off x="8467344" y="5623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utilisation &amp; wait time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COLLECTION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On-site observation at the GIKAFE counter ;)</a:t>
            </a:r>
            <a:endParaRPr lang="en-US" sz="3000" dirty="0"/>
          </a:p>
        </p:txBody>
      </p:sp>
      <p:pic>
        <p:nvPicPr>
          <p:cNvPr id="4" name="Image 0" descr="/home/claude/fixed_ss_1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54480"/>
            <a:ext cx="3291840" cy="4389120"/>
          </a:xfrm>
          <a:prstGeom prst="rect">
            <a:avLst/>
          </a:prstGeom>
        </p:spPr>
      </p:pic>
      <p:pic>
        <p:nvPicPr>
          <p:cNvPr id="5" name="Image 1" descr="/home/claude/fixed_ss_2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77640" y="1554480"/>
            <a:ext cx="3291840" cy="4389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98932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at GIKAFE counter — coordinating with the supervisor &amp; timing customer flow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7452360" y="1554480"/>
            <a:ext cx="4160520" cy="438912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Shape 4"/>
          <p:cNvSpPr/>
          <p:nvPr/>
        </p:nvSpPr>
        <p:spPr>
          <a:xfrm>
            <a:off x="7452360" y="1554480"/>
            <a:ext cx="41605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5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COLLECTED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7680960" y="2011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observers, three shifts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680960" y="260604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1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— timed arrivals &amp; service durations live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2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— logged item-by-item tally + queue length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totals validated with GIKAFE supervisor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680960" y="5349240"/>
            <a:ext cx="374904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9"/>
          <p:cNvSpPr/>
          <p:nvPr/>
        </p:nvSpPr>
        <p:spPr>
          <a:xfrm>
            <a:off x="7680960" y="5349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12:00–14:00  ·  Fri/Sat/Sun  ·  51 records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DATA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Stopwatch readings match the observation log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lap times captured on a phone stopwatch align with the first arrivals recorded in Sheet 3 of our workbook — confirming the raw data is real and consistent.</a:t>
            </a:r>
            <a:endParaRPr lang="en-US" sz="1300" dirty="0"/>
          </a:p>
        </p:txBody>
      </p:sp>
      <p:pic>
        <p:nvPicPr>
          <p:cNvPr id="5" name="Image 0" descr="/home/claude/fixed_ss_3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103120"/>
            <a:ext cx="320040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2103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STOPWATCH  ➜  EXCEL LOG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0624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5 Friday arrivals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0" y="2971800"/>
          <a:ext cx="7406640" cy="246888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Stopwatch (cumulative)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Arrival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00:00.00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12:00:00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02:25.33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12:02:25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06:59.98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12:07:00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08:59.73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12:08:59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12:20.20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12:12:20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206240" y="5532120"/>
            <a:ext cx="7406640" cy="5943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6"/>
          <p:cNvSpPr/>
          <p:nvPr/>
        </p:nvSpPr>
        <p:spPr>
          <a:xfrm>
            <a:off x="4206240" y="5532120"/>
            <a:ext cx="73152" cy="5943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7"/>
          <p:cNvSpPr/>
          <p:nvPr/>
        </p:nvSpPr>
        <p:spPr>
          <a:xfrm>
            <a:off x="4434840" y="5577840"/>
            <a:ext cx="7086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 times shown as cumulative duration on the stopwatch; arrival timestamps in Excel start from 12:00:00.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9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Label"/>
          <p:cNvSpPr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spc="300" dirty="0">
                <a:solidFill>
                  <a:srgbClr val="B85042"/>
                </a:solidFill>
                <a:latin typeface="Calibri" pitchFamily="34" charset="0"/>
              </a:rPr>
              <a:t>04 · DATA VALIDATION</a:t>
            </a:r>
          </a:p>
        </p:txBody>
      </p:sp>
      <p:sp>
        <p:nvSpPr>
          <p:cNvPr id="3" name="Title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2937"/>
                </a:solidFill>
                <a:latin typeface="Georgia" pitchFamily="34" charset="0"/>
              </a:rPr>
              <a:t>Proof of presence — Mon 11-May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</a:rPr>
              <a:t>GIKAFE sale invoice dated 11-05-2026 — confirms we were on-site collecting the Monday actuals used to validate our forecasts.</a:t>
            </a:r>
          </a:p>
        </p:txBody>
      </p:sp>
      <p:pic>
        <p:nvPicPr>
          <p:cNvPr id="5" name="Receipt Image" descr="GIKAFE receipt 11-May-2026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1520" y="1828800"/>
            <a:ext cx="3291840" cy="4389120"/>
          </a:xfrm>
          <a:prstGeom prst="rect">
            <a:avLst/>
          </a:prstGeom>
        </p:spPr>
      </p:pic>
      <p:sp>
        <p:nvSpPr>
          <p:cNvPr id="6" name="Right Card"/>
          <p:cNvSpPr/>
          <p:nvPr/>
        </p:nvSpPr>
        <p:spPr>
          <a:xfrm>
            <a:off x="4663440" y="1828800"/>
            <a:ext cx="6858000" cy="4389120"/>
          </a:xfrm>
          <a:prstGeom prst="rect">
            <a:avLst/>
          </a:prstGeom>
          <a:solidFill>
            <a:srgbClr val="FAF7F2"/>
          </a:solidFill>
          <a:ln/>
        </p:spPr>
        <p:txBody>
          <a:bodyPr wrap="square" lIns="365760" tIns="365760" rIns="365760" bIns="365760" rtlCol="0" anchor="t"/>
          <a:lstStyle/>
          <a:p>
            <a:pPr marL="0" indent="0" algn="l">
              <a:buNone/>
            </a:pPr>
            <a:r>
              <a:rPr lang="en-US" sz="1100" b="1" spc="300" dirty="0">
                <a:solidFill>
                  <a:srgbClr val="B85042"/>
                </a:solidFill>
                <a:latin typeface="Calibri" pitchFamily="34" charset="0"/>
              </a:rPr>
              <a:t>WHY THIS RECEIPT MATTERS</a:t>
            </a:r>
          </a:p>
          <a:p>
            <a:pPr marL="0" indent="0" algn="l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</a:rPr>
              <a:t>Forecast actuals were observed, not borrowed</a:t>
            </a:r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</a:rPr>
              <a:t>Date stamp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</a:rPr>
              <a:t>11-05-2026 · Order #1250224 — GIKAFE, GIK Institute, Topi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</a:rPr>
              <a:t>What it confirms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</a:rPr>
              <a:t>The team was physically present at GIKAFE on Monday 11-May. The Day-11 actuals used in the forecast comparison are numbers passed on by the supervisor.</a:t>
            </a:r>
          </a:p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</a:rPr>
              <a:t>Why it matters for MAPE</a:t>
            </a:r>
          </a:p>
          <a:p>
            <a:pPr marL="0" indent="0" algn="l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</a:rPr>
              <a:t>MAPE is only meaningful if the “actual” column is real. Self-observed actuals close the loop on the SMA / WMA / ES comparison shown on the next forecasting slide.</a:t>
            </a:r>
          </a:p>
        </p:txBody>
      </p:sp>
      <p:sp>
        <p:nvSpPr>
          <p:cNvPr id="7" name="Receipt Caption"/>
          <p:cNvSpPr/>
          <p:nvPr/>
        </p:nvSpPr>
        <p:spPr>
          <a:xfrm>
            <a:off x="54864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</a:rPr>
              <a:t>GIKAFE sale invoice — Mon 11-May-2026, 10:04 AM</a:t>
            </a:r>
          </a:p>
        </p:txBody>
      </p:sp>
      <p:sp>
        <p:nvSpPr>
          <p:cNvPr id="8" name="Footer Dot"/>
          <p:cNvSpPr/>
          <p:nvPr/>
        </p:nvSpPr>
        <p:spPr>
          <a:xfrm>
            <a:off x="548640" y="6583680"/>
            <a:ext cx="91440" cy="91440"/>
          </a:xfrm>
          <a:prstGeom prst="ellipse">
            <a:avLst/>
          </a:prstGeom>
          <a:solidFill>
            <a:srgbClr val="B8504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/>
          </a:p>
        </p:txBody>
      </p:sp>
      <p:sp>
        <p:nvSpPr>
          <p:cNvPr id="9" name="Footer Text"/>
          <p:cNvSpPr/>
          <p:nvPr/>
        </p:nvSpPr>
        <p:spPr>
          <a:xfrm>
            <a:off x="73152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MS-492 Operations Management  ·  GIKAFE Cafeteria Analysis</a:t>
            </a:r>
          </a:p>
        </p:txBody>
      </p:sp>
      <p:sp>
        <p:nvSpPr>
          <p:cNvPr id="10" name="Page Number"/>
          <p:cNvSpPr/>
          <p:nvPr/>
        </p:nvSpPr>
        <p:spPr>
          <a:xfrm>
            <a:off x="10972800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RAW FIELD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 10 May — peak lunch tally</a:t>
            </a:r>
            <a:endParaRPr lang="en-US" sz="3000" dirty="0"/>
          </a:p>
        </p:txBody>
      </p:sp>
      <p:pic>
        <p:nvPicPr>
          <p:cNvPr id="4" name="Image 0" descr="/home/claude/fixed_ss_4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420624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99632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notebook  ·  Sunday 12:00–14:00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0" y="150876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RECORDED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17830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items + a hidden cost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331720"/>
          <a:ext cx="3840480" cy="234086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/ Chai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Biryani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Daal Chawal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Mineral Water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 Juice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Tikka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Rs. 220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9006840" y="2331720"/>
            <a:ext cx="2697480" cy="2377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Text 6"/>
          <p:cNvSpPr/>
          <p:nvPr/>
        </p:nvSpPr>
        <p:spPr>
          <a:xfrm>
            <a:off x="9098280" y="2468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9098280" y="2743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6000" dirty="0"/>
          </a:p>
        </p:txBody>
      </p:sp>
      <p:sp>
        <p:nvSpPr>
          <p:cNvPr id="12" name="Text 8"/>
          <p:cNvSpPr/>
          <p:nvPr/>
        </p:nvSpPr>
        <p:spPr>
          <a:xfrm>
            <a:off x="9098280" y="37033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unit price assumed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annual holding cost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9098280" y="4343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Refrigeration · spoilage · storage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029200" y="4937760"/>
            <a:ext cx="6675120" cy="118872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1"/>
          <p:cNvSpPr/>
          <p:nvPr/>
        </p:nvSpPr>
        <p:spPr>
          <a:xfrm>
            <a:off x="5029200" y="4937760"/>
            <a:ext cx="91440" cy="118872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2"/>
          <p:cNvSpPr/>
          <p:nvPr/>
        </p:nvSpPr>
        <p:spPr>
          <a:xfrm>
            <a:off x="5257800" y="5029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BLIND-SPOT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257800" y="53035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revenue ≈ Rs. 100,000. GIKAFE is run by GIK administration (low overhead), so 15% is a realistic holding-cost rate — but management does not formally track holding or setup costs.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5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FORECASTING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Monday 11-May forecast — SMA · WMA · 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methods applied to 10 days of historical demand. Method-by-method comparison with MAPE — WMA wins on lowest average error.</a:t>
            </a:r>
            <a:endParaRPr lang="en-US" sz="1300" dirty="0"/>
          </a:p>
        </p:txBody>
      </p:sp>
      <p:pic>
        <p:nvPicPr>
          <p:cNvPr id="5" name="Image 0" descr="/home/claude/fixed_ss_5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2057400"/>
            <a:ext cx="32918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199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Hand-worked forecasts vs. self-observed Mon 11-May actuals</a:t>
            </a:r>
            <a:endParaRPr lang="en-US" sz="9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0" y="2057400"/>
          <a:ext cx="749808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4114800" y="5257800"/>
            <a:ext cx="2423160" cy="100584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5"/>
          <p:cNvSpPr/>
          <p:nvPr/>
        </p:nvSpPr>
        <p:spPr>
          <a:xfrm>
            <a:off x="4114800" y="5257800"/>
            <a:ext cx="242316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6"/>
          <p:cNvSpPr/>
          <p:nvPr/>
        </p:nvSpPr>
        <p:spPr>
          <a:xfrm>
            <a:off x="4251960" y="5330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METHOD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251960" y="5577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WMA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51960" y="5943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avg MAPE — adopted for daily ordering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656832" y="5257800"/>
            <a:ext cx="2423160" cy="100584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0"/>
          <p:cNvSpPr/>
          <p:nvPr/>
        </p:nvSpPr>
        <p:spPr>
          <a:xfrm>
            <a:off x="6656832" y="5257800"/>
            <a:ext cx="242316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1"/>
          <p:cNvSpPr/>
          <p:nvPr/>
        </p:nvSpPr>
        <p:spPr>
          <a:xfrm>
            <a:off x="6793992" y="5330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WMA MAPE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793992" y="5577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1.5%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793992" y="5943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 top-volume items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198864" y="5257800"/>
            <a:ext cx="2423160" cy="100584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5"/>
          <p:cNvSpPr/>
          <p:nvPr/>
        </p:nvSpPr>
        <p:spPr>
          <a:xfrm>
            <a:off x="9198864" y="5257800"/>
            <a:ext cx="242316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6"/>
          <p:cNvSpPr/>
          <p:nvPr/>
        </p:nvSpPr>
        <p:spPr>
          <a:xfrm>
            <a:off x="9336024" y="533095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 HEADLINE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9336024" y="55778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 · 51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9336024" y="5943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Naan &amp; Chai units — feed inventory layer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0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INVENTORY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ABC classification → EOQ → Reorder Point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items by annual value</a:t>
            </a:r>
            <a:endParaRPr lang="en-US" sz="16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2194560"/>
          <a:ext cx="52120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669280"/>
            <a:ext cx="5029200" cy="77724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5"/>
          <p:cNvSpPr/>
          <p:nvPr/>
        </p:nvSpPr>
        <p:spPr>
          <a:xfrm>
            <a:off x="731520" y="576072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weekly control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review  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300" b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/ on-demand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4630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EOQ + ROP  ·  TOP CLASS-A ITEMS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3600" y="17373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Optimal order quantity &amp; reorder trigger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2194560"/>
          <a:ext cx="576072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(units)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EOQ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Orders/yr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Biryani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Karhai + 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9,286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Daal Chawal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13,876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Tikka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7,616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Chicken Burger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 / Chai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943600" y="4937760"/>
            <a:ext cx="5760720" cy="137160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9"/>
          <p:cNvSpPr/>
          <p:nvPr/>
        </p:nvSpPr>
        <p:spPr>
          <a:xfrm>
            <a:off x="5943600" y="4937760"/>
            <a:ext cx="73152" cy="137160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0"/>
          <p:cNvSpPr/>
          <p:nvPr/>
        </p:nvSpPr>
        <p:spPr>
          <a:xfrm>
            <a:off x="612648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USED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126480" y="53035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EOQ = √(2DS / H)   ROP = (d̄ × L) + SS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 L = 1 day  ·  H = 15% × price  ·  SS = 0.5 × d̄  ·  313 working days/yr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3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QUEUEING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M/M/1 model at the main counter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counter, FIFO discipline, Poisson arrivals, exponential service — the textbook M/M/1 setup.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97480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73152" cy="10515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(arrival rate)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cust/min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10712" y="1920240"/>
            <a:ext cx="2697480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410712" y="1920240"/>
            <a:ext cx="73152" cy="10515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3593592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 (service rate)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93592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1.034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93592" y="2697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cust/min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72784" y="1920240"/>
            <a:ext cx="2697480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272784" y="1920240"/>
            <a:ext cx="73152" cy="105156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6455664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55664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55664" y="2697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counter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34856" y="1920240"/>
            <a:ext cx="2697480" cy="1051560"/>
          </a:xfrm>
          <a:prstGeom prst="rect">
            <a:avLst/>
          </a:prstGeom>
          <a:solidFill>
            <a:srgbClr val="FAF7F2"/>
          </a:solidFill>
          <a:ln w="12700">
            <a:solidFill>
              <a:srgbClr val="FAF7F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9134856" y="1920240"/>
            <a:ext cx="73152" cy="105156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9317736" y="2011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17736" y="22402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17736" y="2697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rate  →  Full peak</a:t>
            </a:r>
            <a:endParaRPr lang="en-US" sz="1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548640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(λ=0.14)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Peak (λ=4.06)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ρ  utilisation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0.137  (14%)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3.92  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Lq  in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Wq  wait (sec)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 total (sec)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∞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6400800" y="3200400"/>
            <a:ext cx="5212080" cy="310896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9" name="Text 26"/>
          <p:cNvSpPr/>
          <p:nvPr/>
        </p:nvSpPr>
        <p:spPr>
          <a:xfrm>
            <a:off x="6629400" y="3337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629400" y="3611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ρ &gt; 1 at peak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6629400" y="4206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629400" y="44805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Full-peak λ = 4.06  cust/min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μ          = 1.03  cust/min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ρ = λ/μ    = 3.92   →  UNSTABLE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62940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Single server cannot keep up with peak arrival rate — explains the 6–8 person queues we observed.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6537960"/>
            <a:ext cx="109728" cy="10972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5" name="Text 32"/>
          <p:cNvSpPr/>
          <p:nvPr/>
        </p:nvSpPr>
        <p:spPr>
          <a:xfrm>
            <a:off x="73152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MS-492 Operations Management  ·  GIKAFE Cafeteria Analysis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stabilise the system, restore ρ &lt;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implementable levers — pulled together they bring server utilisation back below 1 and reduce average wait.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61188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 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Boost service rate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server or a dedicated Tea/Naan batch station during 12:00–14:00. Pre-pack Class-A items.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" y="470916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822960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wait reduction (M/M/2)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70832" y="20574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4" name="Shape 12"/>
          <p:cNvSpPr/>
          <p:nvPr/>
        </p:nvSpPr>
        <p:spPr>
          <a:xfrm>
            <a:off x="4370832" y="2057400"/>
            <a:ext cx="3611880" cy="91440"/>
          </a:xfrm>
          <a:prstGeom prst="rect">
            <a:avLst/>
          </a:prstGeom>
          <a:solidFill>
            <a:srgbClr val="D4A574"/>
          </a:solidFill>
          <a:ln w="12700">
            <a:solidFill>
              <a:srgbClr val="D4A574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4599432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45152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  λ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45152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Smooth the arrival rate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45152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 class break timings or push pre-orders via QR menu. Spread arrivals across a wider window.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45152" y="470916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4645152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Flattens peak demand spike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93024" y="205740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8193024" y="2057400"/>
            <a:ext cx="361188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8421624" y="22860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8467344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OFF-PEAK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67344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 during off-peak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67344" y="370332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pilot during 11:30 or 13:30 windows where natural λ is lower — confirm μ improvements before scaling.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67344" y="4709160"/>
            <a:ext cx="3063240" cy="274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8467344" y="4846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</a:t>
            </a: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implementation path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5486400"/>
            <a:ext cx="11064240" cy="82296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WMA forecasts for daily orders  ·  Trigger reorders at ROP for Class-A items  ·  Add a 2nd server at peak — together these move ρ back below 1 and stabilise the system.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E7E8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1427</Words>
  <Application>Microsoft Office PowerPoint</Application>
  <PresentationFormat>Widescreen</PresentationFormat>
  <Paragraphs>301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GIKAFE Operations Analysis</dc:title>
  <dc:subject>PptxGenJS Presentation</dc:subject>
  <dc:creator>Ahmed Musharaf &amp; Umar Mushtaq Mughal</dc:creator>
  <cp:lastModifiedBy>u2022067</cp:lastModifiedBy>
  <cp:revision>3</cp:revision>
  <dcterms:created xsi:type="dcterms:W3CDTF">2026-05-11T10:58:37Z</dcterms:created>
  <dcterms:modified xsi:type="dcterms:W3CDTF">2026-05-13T04:10:45Z</dcterms:modified>
</cp:coreProperties>
</file>